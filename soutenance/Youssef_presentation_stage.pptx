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0185"/>
    <a:srgbClr val="3403C8"/>
    <a:srgbClr val="340357"/>
    <a:srgbClr val="220438"/>
    <a:srgbClr val="320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C9756-CE7C-45F4-AEF4-D486D1C2444D}" v="17" dt="2026-08-04T17:57:47.863"/>
    <p1510:client id="{876685F9-0859-45A1-BE34-388816008584}" v="24" dt="2026-08-04T17:37:06.747"/>
    <p1510:client id="{945B4CE3-BCCD-4028-95F2-3ECE5DC9C6B0}" v="21" dt="2026-08-04T17:25:40.987"/>
    <p1510:client id="{9792CE1E-2F21-4D7D-B3C9-F3ECC8CF36E3}" v="25" dt="2026-08-06T01:21:30.136"/>
    <p1510:client id="{A005AC30-D350-4149-A20F-82B2831EE9FF}" v="81" dt="2026-08-04T17:00:56.384"/>
    <p1510:client id="{BD7C2840-C694-4AAD-AD85-3C30807C8DC9}" v="13" dt="2026-08-04T17:16:24.675"/>
    <p1510:client id="{D0ECED82-4660-4980-BF5D-44B63BC7E3E4}" v="22" dt="2026-08-04T16:42:02.679"/>
    <p1510:client id="{EB227906-C279-4C4F-B855-C5AFC2A772B5}" v="31" dt="2026-08-04T17:09:39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075" y="3718470"/>
            <a:ext cx="4133850" cy="1152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0431" y="1986855"/>
            <a:ext cx="9091136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Inter"/>
              </a:rPr>
              <a:t>Soutenance — Stage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2812" y="2910780"/>
            <a:ext cx="52863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A5B4FC"/>
                </a:solidFill>
                <a:latin typeface="Inter"/>
              </a:rPr>
              <a:t>FSM Docker · du cadrage à l'observabilité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4350" y="3870870"/>
            <a:ext cx="15525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4D399"/>
                </a:solidFill>
                <a:latin typeface="Inter"/>
              </a:rPr>
              <a:t>Présenté par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887" y="4147095"/>
            <a:ext cx="981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4D399"/>
                </a:solidFill>
                <a:latin typeface="Inter"/>
              </a:rPr>
              <a:t>Binôme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4350" y="4518570"/>
            <a:ext cx="3543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A5B4FC"/>
                </a:solidFill>
                <a:latin typeface="Inter"/>
              </a:rPr>
              <a:t>Encadrement Wilance | Juillet — Août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1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49772"/>
            <a:ext cx="3429000" cy="41107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749772"/>
            <a:ext cx="3429000" cy="41107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749772"/>
            <a:ext cx="3429000" cy="41107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671583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Inter SemiBold"/>
              </a:rPr>
              <a:t>CONTEXTE ET APPLICATION "FIL ROUGE"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7575" y="619125"/>
            <a:ext cx="5429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 Medium"/>
              </a:rPr>
              <a:t>17/17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140297"/>
            <a:ext cx="2838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  <a:latin typeface="Inter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930872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SemiBold"/>
              </a:rPr>
              <a:t>Contexte et 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397597"/>
            <a:ext cx="2838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Mission principale 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Construire de A à Z une chaîne DevOps et GitOps complète.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372867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Méthodologie 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Utilisation d'une application "fil rouge" pour expérimenter et automatiser chaque étape.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775" y="2140297"/>
            <a:ext cx="2838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  <a:latin typeface="Inter"/>
              </a:rP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6775" y="2930872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SemiBold"/>
              </a:rPr>
              <a:t>Application 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6775" y="3397597"/>
            <a:ext cx="2838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Domaine 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Interface d'administration pour un outil de Field Service Management (FSM).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6775" y="4372867"/>
            <a:ext cx="2838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Technologie 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Framework Next.js optimisé en mode standalone avec PostgreSQL.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6775" y="2140297"/>
            <a:ext cx="2838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  <a:latin typeface="Inter"/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6775" y="2930872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SemiBold"/>
              </a:rPr>
              <a:t>Pivot Architectural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6775" y="3397597"/>
            <a:ext cx="2838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Architecture initiale 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Dépendance à une API Cloud distante (Supabase).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6775" y="4372867"/>
            <a:ext cx="2838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Architecture finale 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Migration vers une base 100% locale pour isolation et indépendance totale.</a:t>
            </a:r>
          </a:p>
        </p:txBody>
      </p:sp>
    </p:spTree>
    <p:extLst>
      <p:ext uri="{BB962C8B-B14F-4D97-AF65-F5344CB8AC3E}">
        <p14:creationId xmlns:p14="http://schemas.microsoft.com/office/powerpoint/2010/main" val="3146150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55" y="0"/>
            <a:ext cx="12184144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38350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Jalons 0–1 : Fondations Git &amp; qualité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20500" y="6496050"/>
            <a:ext cx="276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3/16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1864221"/>
            <a:ext cx="49911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Configuration de l'environnement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Mise en place de Git, VS Code et Docker. Résolution des conflits de conteneurs initiaux.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47107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Initialisation de l'application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Choix de l'application Next.js (FSM). Développement de la route /api/health pour les futurs tests de santé.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534792"/>
            <a:ext cx="4991100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1" i="0" u="none" err="1">
                <a:solidFill>
                  <a:srgbClr val="FFFFFF"/>
                </a:solidFill>
                <a:latin typeface="Inter"/>
              </a:rPr>
              <a:t>Qualité</a:t>
            </a:r>
            <a:r>
              <a:rPr sz="1500" b="1" i="0" u="none">
                <a:solidFill>
                  <a:srgbClr val="FFFFFF"/>
                </a:solidFill>
                <a:latin typeface="Inter"/>
              </a:rPr>
              <a:t> et Bonnes pratiques</a:t>
            </a:r>
            <a:r>
              <a:rPr lang="en-US" sz="1500">
                <a:solidFill>
                  <a:srgbClr val="E0E7FF"/>
                </a:solidFill>
                <a:latin typeface="Inter"/>
              </a:rPr>
              <a:t> 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Gestion </a:t>
            </a:r>
            <a:r>
              <a:rPr sz="1500" b="0" i="0" u="none" err="1">
                <a:solidFill>
                  <a:srgbClr val="E0E7FF"/>
                </a:solidFill>
                <a:latin typeface="Inter"/>
              </a:rPr>
              <a:t>stricte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du Git Flow sur la </a:t>
            </a:r>
            <a:r>
              <a:rPr sz="1500" b="0" i="0" u="none" err="1">
                <a:solidFill>
                  <a:srgbClr val="E0E7FF"/>
                </a:solidFill>
                <a:latin typeface="Inter"/>
              </a:rPr>
              <a:t>branche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feat/jalon1 (PR #11, </a:t>
            </a:r>
            <a:r>
              <a:rPr sz="1500" b="0" i="0" u="none" err="1">
                <a:solidFill>
                  <a:srgbClr val="E0E7FF"/>
                </a:solidFill>
                <a:latin typeface="Inter"/>
              </a:rPr>
              <a:t>aucun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push direct sur main).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525" y="3529012"/>
            <a:ext cx="40005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18832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0661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5538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02ED9E-AB1F-D60F-D140-8B58FFBA8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566" y="1714287"/>
            <a:ext cx="6048867" cy="4332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423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38350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2 : Conteneurs &amp; Postgres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20500" y="6496050"/>
            <a:ext cx="276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4/16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1711821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Optimisation Docker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Création d'un Dockerfile multi-étapes avec node:20-alpine. Mode standalone activé pour une image de production ultra-légère.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99507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Migration d'Architecture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Remplacement complet de l'API distante Supabase par une base PostgreSQL locale pour une infrastructure autonome.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75" y="3529012"/>
            <a:ext cx="51435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17308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2185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0CB469-C9EE-8EC6-412B-E591B9106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567" y="1880374"/>
            <a:ext cx="5915321" cy="26966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DC18C6-18B5-CC8C-470D-FD5E873A21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566" y="4579344"/>
            <a:ext cx="6048868" cy="12736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3 : CI — tests &amp;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30025" y="6496050"/>
            <a:ext cx="266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5/16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1864221"/>
            <a:ext cx="49911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Framework de Tests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Installation de Vitest et rédaction des tests unitaires de base (exemple.test.ts).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47107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Workflow GitHub Actions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Création de ci.yml. Déclenchement automatique sur push/PR. Blocage de fusion validé en simulant un échec de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534792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Gestion des Dépendances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Résolution des crashs de build CI liés à npm ci en synchronisant localement le package-lock.json avec npm install.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529012"/>
            <a:ext cx="5715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18832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0661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5538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0383A5-A6E0-139A-15C1-FC088692E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155" y="2541351"/>
            <a:ext cx="5860331" cy="2647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499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4 : DevSecOps — garde-fous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20500" y="6496050"/>
            <a:ext cx="276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1711821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Détection des Secrets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Intégration de Gitleaks avec fetch-depth: 0 pour garantir l'analyse de l'intégralité de l'historique des commits.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199507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Analyse de Vulnérabilités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Intégration de Trivy pour scanner l'image locale, ciblant spécifiquement les sévérités CRITICAL,HIGH avec format de sortie en tableau.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687192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Mode Audit &amp; Pull Request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Configuration de Trivy avec exit-code: '0' pour valider le processus sans bloquer la CI, puis ouverture de la PR pour intégration.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341471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17308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2185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7062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E7EB96-E726-76D7-E6D8-3CEA3852C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257" y="1720391"/>
            <a:ext cx="5938889" cy="4257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38350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5 : Déploiement automatique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30025" y="6496050"/>
            <a:ext cx="266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7/16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1864221"/>
            <a:ext cx="49911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Stack de Production Cloud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Déploiement du frontend sur Railway et persistance des données PostgreSQL sur Neon.tech.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47107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Configurations &amp; Sécurité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Ajout des variables (DATABASE_URL, NEXTAUTH_SECRET) dans Railway. Correction manuelle du hash de mot de passe dans Neon.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534792"/>
            <a:ext cx="4991100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00" b="1" i="0" u="none" err="1">
                <a:solidFill>
                  <a:srgbClr val="E0E7FF"/>
                </a:solidFill>
                <a:ea typeface="+mn-lt"/>
                <a:cs typeface="+mn-lt"/>
              </a:rPr>
              <a:t>Stratégie</a:t>
            </a:r>
            <a:r>
              <a:rPr lang="en-US" sz="1500" b="1" i="0" u="none">
                <a:solidFill>
                  <a:srgbClr val="E0E7FF"/>
                </a:solidFill>
                <a:ea typeface="+mn-lt"/>
                <a:cs typeface="+mn-lt"/>
              </a:rPr>
              <a:t> de Rollback </a:t>
            </a:r>
            <a:r>
              <a:rPr lang="en-US" sz="1500" b="1">
                <a:solidFill>
                  <a:srgbClr val="E0E7FF"/>
                </a:solidFill>
                <a:ea typeface="+mn-lt"/>
                <a:cs typeface="+mn-lt"/>
              </a:rPr>
              <a:t> :</a:t>
            </a:r>
            <a:r>
              <a:rPr lang="en-US" sz="1500">
                <a:solidFill>
                  <a:srgbClr val="E0E7FF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E0E7FF"/>
                </a:solidFill>
                <a:ea typeface="+mn-lt"/>
                <a:cs typeface="+mn-lt"/>
              </a:rPr>
              <a:t>Définition</a:t>
            </a:r>
            <a:r>
              <a:rPr lang="en-US" sz="1500">
                <a:solidFill>
                  <a:srgbClr val="E0E7FF"/>
                </a:solidFill>
                <a:ea typeface="+mn-lt"/>
                <a:cs typeface="+mn-lt"/>
              </a:rPr>
              <a:t> du </a:t>
            </a:r>
            <a:r>
              <a:rPr lang="en-US" sz="1500" err="1">
                <a:solidFill>
                  <a:srgbClr val="E0E7FF"/>
                </a:solidFill>
                <a:ea typeface="+mn-lt"/>
                <a:cs typeface="+mn-lt"/>
              </a:rPr>
              <a:t>mécanisme</a:t>
            </a:r>
            <a:r>
              <a:rPr lang="en-US" sz="1500">
                <a:solidFill>
                  <a:srgbClr val="E0E7FF"/>
                </a:solidFill>
                <a:ea typeface="+mn-lt"/>
                <a:cs typeface="+mn-lt"/>
              </a:rPr>
              <a:t> de retour arrière via </a:t>
            </a:r>
            <a:r>
              <a:rPr lang="en-US" sz="1500" err="1">
                <a:solidFill>
                  <a:srgbClr val="E0E7FF"/>
                </a:solidFill>
                <a:ea typeface="+mn-lt"/>
                <a:cs typeface="+mn-lt"/>
              </a:rPr>
              <a:t>l'historique</a:t>
            </a:r>
            <a:r>
              <a:rPr lang="en-US" sz="1500">
                <a:solidFill>
                  <a:srgbClr val="E0E7FF"/>
                </a:solidFill>
                <a:ea typeface="+mn-lt"/>
                <a:cs typeface="+mn-lt"/>
              </a:rPr>
              <a:t> des </a:t>
            </a:r>
            <a:r>
              <a:rPr lang="en-US" sz="1500" err="1">
                <a:solidFill>
                  <a:srgbClr val="E0E7FF"/>
                </a:solidFill>
                <a:ea typeface="+mn-lt"/>
                <a:cs typeface="+mn-lt"/>
              </a:rPr>
              <a:t>déploiements</a:t>
            </a:r>
            <a:r>
              <a:rPr lang="en-US" sz="1500">
                <a:solidFill>
                  <a:srgbClr val="E0E7FF"/>
                </a:solidFill>
                <a:ea typeface="+mn-lt"/>
                <a:cs typeface="+mn-lt"/>
              </a:rPr>
              <a:t> Railway 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529012"/>
            <a:ext cx="5715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18832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0661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5538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A4682D-5905-CCAC-EA8D-8936A74DA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840" y="1870365"/>
            <a:ext cx="6070216" cy="39791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38350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6 : IaC AWS — Terraform &amp; Ansible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20500" y="6496050"/>
            <a:ext cx="276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8/16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1864221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Provisionnement AWS (Terraform)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Écriture du main.tf pour une instance EC2 t3.micro. Création de clés et Security Groups isolés (jalon6-sg-youssef) pour éviter les conflits.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351907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Configuration Système (Ansible)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Tests locaux du playbook. Injection dynamique des secrets DB/Auth via --extra-vars pour sécuriser le déploiement.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839592"/>
            <a:ext cx="49911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Reproductibilité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Validation complète de l'idempotence via des cycles de terraform destroy puis apply.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18832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3709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86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2561DE-483D-BA3B-E7D3-35B7D7E61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033479"/>
            <a:ext cx="6088146" cy="3820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38350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7 : Kubernetes — objets de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20500" y="6496050"/>
            <a:ext cx="276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9/16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1711821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Cluster Local Allégé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Installation de k3d sous WSL Ubuntu. Problème de permissions socket Docker résolu via ajout au groupe linux docker.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99507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Gestion des Secrets K8s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Création d'un secret.yaml (via stringData) pour les credentials, exclu de Git, et remplacé par un modèle anonymisé.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687192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Déploiement d'Image Locale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Erreurs d'extraction contournées en importent l'image directement avec k3d image import et imagePullPolicy: Never.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0" y="3529012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17308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2185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7062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015242-10E6-EB63-AC3B-482B666FE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86041"/>
            <a:ext cx="6088145" cy="40914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8 : Helm — paquet réutilisable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63350" y="6496050"/>
            <a:ext cx="333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10/16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186303"/>
            <a:ext cx="4991100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Tests de </a:t>
            </a:r>
            <a:r>
              <a:rPr sz="1500" b="1" i="0" u="none" err="1">
                <a:solidFill>
                  <a:srgbClr val="FFFFFF"/>
                </a:solidFill>
                <a:latin typeface="Inter"/>
              </a:rPr>
              <a:t>Flexibilité</a:t>
            </a:r>
            <a:r>
              <a:rPr sz="1500" b="1" i="0" u="none">
                <a:solidFill>
                  <a:srgbClr val="FFFFFF"/>
                </a:solidFill>
                <a:latin typeface="Inter"/>
              </a:rPr>
              <a:t> (Upgrade/Rollback)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Passage </a:t>
            </a:r>
            <a:r>
              <a:rPr sz="1500" b="0" i="0" u="none" err="1">
                <a:solidFill>
                  <a:srgbClr val="E0E7FF"/>
                </a:solidFill>
                <a:latin typeface="Inter"/>
              </a:rPr>
              <a:t>dynamique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à </a:t>
            </a:r>
            <a:r>
              <a:rPr lang="en-US" sz="1500">
                <a:solidFill>
                  <a:srgbClr val="E0E7FF"/>
                </a:solidFill>
                <a:latin typeface="Inter"/>
              </a:rPr>
              <a:t> 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réplicas à </a:t>
            </a:r>
            <a:r>
              <a:rPr lang="en-US" sz="1500" b="0" i="0" u="none">
                <a:solidFill>
                  <a:srgbClr val="E0E7FF"/>
                </a:solidFill>
                <a:latin typeface="Inter"/>
              </a:rPr>
              <a:t>chaud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, </a:t>
            </a:r>
            <a:r>
              <a:rPr lang="en-US" sz="1500" b="0" i="0" u="none">
                <a:solidFill>
                  <a:srgbClr val="E0E7FF"/>
                </a:solidFill>
                <a:latin typeface="Inter"/>
              </a:rPr>
              <a:t>puis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test de restauration (rollback) vers </a:t>
            </a:r>
            <a:r>
              <a:rPr lang="en-US" sz="1500" b="0" i="0" u="none">
                <a:solidFill>
                  <a:srgbClr val="E0E7FF"/>
                </a:solidFill>
                <a:latin typeface="Inter"/>
              </a:rPr>
              <a:t>une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</a:t>
            </a:r>
            <a:r>
              <a:rPr lang="en-US" sz="1500" b="0" i="0" u="none">
                <a:solidFill>
                  <a:srgbClr val="E0E7FF"/>
                </a:solidFill>
                <a:latin typeface="Inter"/>
              </a:rPr>
              <a:t>révision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42653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Correction des Sondes (Probes)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Résolution d'un CrashLoopBackOff en redirigeant la liveness/readiness vers la route valide /api/health.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59" y="21896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59" y="394599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404FBD-7CF7-E0DD-78A8-0CB57A90D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067" y="1911284"/>
            <a:ext cx="6281396" cy="4064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700" y="2038350"/>
            <a:ext cx="5207577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9 : GitOps — Argo CD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91925" y="6496050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11/16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1923924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Mise en place GitOps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Déploiement d'Argo CD sur k3d. Configuration du manifeste app-fsm.yaml pour pointer vers la branche feat/youssef-jalon9.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45796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Défis de Déploiement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Limitation de taille des annotations contournée via l'application directe avec le drapeau --server-side.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1887984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59" y="3941278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B481F5-53E5-D14D-6F03-02C0659E1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454" y="1853276"/>
            <a:ext cx="5949759" cy="4190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38350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9 : Preuve Self-Healing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63350" y="6496050"/>
            <a:ext cx="333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12/16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1864221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Détection de Dérive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Modification du code source (replicaCount passé à 4). Argo CD passe immédiatement en statut OutOfSync.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351907"/>
            <a:ext cx="49911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Réconciliation Automatique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Création automatique des pods manquants par Argo CD jusqu'au retour à l'état sain (Synced).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534792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Correction de Suivi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La désynchronisation initiale a été fixée en forçant Argo CD à observer la bonne branche de travail via kubectl apply.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0" y="3529012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18832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3709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5538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6BA600-6737-87A4-F677-498163B79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242" y="1953913"/>
            <a:ext cx="6203760" cy="39815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38350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Jalon 10 : Observabilité &amp; SLO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63350" y="6496050"/>
            <a:ext cx="333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13/16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169021"/>
            <a:ext cx="49911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Exposition des Métriques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Intégration de prom-client et création de l'endpoint /api/metrics pour l'application Web-Admin.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351907"/>
            <a:ext cx="49911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Versioning du Monitoring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Ajout du fichier prometheus-test.yml au dépôt Git pour la configuration locale.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534792"/>
            <a:ext cx="49911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Tableau de Bord Grafana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Export JSON du tableau de bord affichant : CPU, RAM, Event Loop Lag Node.js, et Uptime.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21880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3709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5538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32F8B4-2914-4487-F54C-75FC66EB6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004" y="2034715"/>
            <a:ext cx="6085004" cy="3927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818CF8"/>
                </a:solidFill>
                <a:latin typeface="Inter"/>
              </a:rPr>
              <a:t>Bilan &amp; ouverture : Merci — Questions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63350" y="6496050"/>
            <a:ext cx="333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366F1"/>
                </a:solidFill>
                <a:latin typeface="Inter"/>
              </a:rPr>
              <a:t>16/16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1711821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Chaîne DevOps Complète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Capacité à relier le code source à la production de manière 100% automatisée (CI/CD, Docker, Kubernetes).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199507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Sécurité et Fiabilité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Compréhension de l'approche Shift-Left, de l'indépendance de l'infrastructure et du principe déclaratif GitOps.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687192"/>
            <a:ext cx="49911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Rigueur et Traçabilité</a:t>
            </a:r>
            <a:r>
              <a:rPr sz="1500" b="0" i="0" u="none">
                <a:solidFill>
                  <a:srgbClr val="E0E7FF"/>
                </a:solidFill>
                <a:latin typeface="Inter"/>
              </a:rPr>
              <a:t> Tenue rigoureuse d'un journal de bord, assurant la reproductibilité des environnements et une collaboration fluide en équipe.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7394" y="3090862"/>
            <a:ext cx="249031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1" u="none">
                <a:solidFill>
                  <a:srgbClr val="34D399"/>
                </a:solidFill>
                <a:latin typeface="Inter"/>
              </a:rPr>
              <a:t>Liens &amp; Preuves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8962" y="3652837"/>
            <a:ext cx="40671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1500" b="0" i="1" u="none">
                <a:solidFill>
                  <a:srgbClr val="E0E7FF"/>
                </a:solidFill>
                <a:latin typeface="Inter"/>
              </a:rPr>
              <a:t>Dépôt : github.com/abdellah-get/fsm-docker</a:t>
            </a:r>
            <a:r>
              <a:t>
</a:t>
            </a:r>
            <a:r>
              <a:rPr sz="1500" b="0" i="1" u="none">
                <a:solidFill>
                  <a:srgbClr val="E0E7FF"/>
                </a:solidFill>
                <a:latin typeface="Inter"/>
              </a:rPr>
              <a:t> Documentation : JOURNAL_Youssef.md</a:t>
            </a:r>
            <a:r>
              <a:t>
</a:t>
            </a:r>
            <a:r>
              <a:rPr sz="1500" b="0" i="1" u="none">
                <a:solidFill>
                  <a:srgbClr val="E0E7FF"/>
                </a:solidFill>
                <a:latin typeface="Inter"/>
              </a:rPr>
              <a:t> Preuves : Dossier /captures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1730871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218557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70624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4D399"/>
                </a:solidFill>
                <a:latin typeface="Inter"/>
              </a:rPr>
              <a:t>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42</cp:revision>
  <dcterms:created xsi:type="dcterms:W3CDTF">2013-01-27T09:14:16Z</dcterms:created>
  <dcterms:modified xsi:type="dcterms:W3CDTF">2026-08-06T01:21:48Z</dcterms:modified>
  <cp:category/>
</cp:coreProperties>
</file>